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4" r:id="rId5"/>
    <p:sldId id="263" r:id="rId6"/>
    <p:sldId id="260" r:id="rId7"/>
    <p:sldId id="261" r:id="rId8"/>
    <p:sldId id="262"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16" autoAdjust="0"/>
    <p:restoredTop sz="96028" autoAdjust="0"/>
  </p:normalViewPr>
  <p:slideViewPr>
    <p:cSldViewPr snapToGrid="0">
      <p:cViewPr>
        <p:scale>
          <a:sx n="73" d="100"/>
          <a:sy n="73" d="100"/>
        </p:scale>
        <p:origin x="68" y="7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B2622-A97F-5498-0745-DDEFAA1D87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056D3E1-2C19-79DA-064C-553F97C3FF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B61B4F7-A39B-661A-01D6-D1A443583997}"/>
              </a:ext>
            </a:extLst>
          </p:cNvPr>
          <p:cNvSpPr>
            <a:spLocks noGrp="1"/>
          </p:cNvSpPr>
          <p:nvPr>
            <p:ph type="dt" sz="half" idx="10"/>
          </p:nvPr>
        </p:nvSpPr>
        <p:spPr/>
        <p:txBody>
          <a:bodyPr/>
          <a:lstStyle/>
          <a:p>
            <a:fld id="{E56F53CA-33DB-4211-A925-EF9E208521FE}" type="datetimeFigureOut">
              <a:rPr lang="en-GB" smtClean="0"/>
              <a:t>05/08/2026</a:t>
            </a:fld>
            <a:endParaRPr lang="en-GB"/>
          </a:p>
        </p:txBody>
      </p:sp>
      <p:sp>
        <p:nvSpPr>
          <p:cNvPr id="5" name="Footer Placeholder 4">
            <a:extLst>
              <a:ext uri="{FF2B5EF4-FFF2-40B4-BE49-F238E27FC236}">
                <a16:creationId xmlns:a16="http://schemas.microsoft.com/office/drawing/2014/main" id="{06CC47E1-4257-B2E9-2E6F-8872C9B8AE6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F6C7F11-96A2-B520-2AFB-686589068541}"/>
              </a:ext>
            </a:extLst>
          </p:cNvPr>
          <p:cNvSpPr>
            <a:spLocks noGrp="1"/>
          </p:cNvSpPr>
          <p:nvPr>
            <p:ph type="sldNum" sz="quarter" idx="12"/>
          </p:nvPr>
        </p:nvSpPr>
        <p:spPr/>
        <p:txBody>
          <a:bodyPr/>
          <a:lstStyle/>
          <a:p>
            <a:fld id="{5250099A-FC06-4D8F-8CDF-D255FFE9E427}" type="slidenum">
              <a:rPr lang="en-GB" smtClean="0"/>
              <a:t>‹#›</a:t>
            </a:fld>
            <a:endParaRPr lang="en-GB"/>
          </a:p>
        </p:txBody>
      </p:sp>
    </p:spTree>
    <p:extLst>
      <p:ext uri="{BB962C8B-B14F-4D97-AF65-F5344CB8AC3E}">
        <p14:creationId xmlns:p14="http://schemas.microsoft.com/office/powerpoint/2010/main" val="724596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711BD-FB5F-A9BA-05AC-D37E3E97EA3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BC67656-1957-0C5D-07FA-33C1F9D5CD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4EEF058-F73E-3FE2-3D52-5A9CC997F1E8}"/>
              </a:ext>
            </a:extLst>
          </p:cNvPr>
          <p:cNvSpPr>
            <a:spLocks noGrp="1"/>
          </p:cNvSpPr>
          <p:nvPr>
            <p:ph type="dt" sz="half" idx="10"/>
          </p:nvPr>
        </p:nvSpPr>
        <p:spPr/>
        <p:txBody>
          <a:bodyPr/>
          <a:lstStyle/>
          <a:p>
            <a:fld id="{E56F53CA-33DB-4211-A925-EF9E208521FE}" type="datetimeFigureOut">
              <a:rPr lang="en-GB" smtClean="0"/>
              <a:t>05/08/2026</a:t>
            </a:fld>
            <a:endParaRPr lang="en-GB"/>
          </a:p>
        </p:txBody>
      </p:sp>
      <p:sp>
        <p:nvSpPr>
          <p:cNvPr id="5" name="Footer Placeholder 4">
            <a:extLst>
              <a:ext uri="{FF2B5EF4-FFF2-40B4-BE49-F238E27FC236}">
                <a16:creationId xmlns:a16="http://schemas.microsoft.com/office/drawing/2014/main" id="{F955E34D-D97F-4C18-CB28-ADF59919979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B927D41-1056-ABC0-1BC9-CCB63BB250CD}"/>
              </a:ext>
            </a:extLst>
          </p:cNvPr>
          <p:cNvSpPr>
            <a:spLocks noGrp="1"/>
          </p:cNvSpPr>
          <p:nvPr>
            <p:ph type="sldNum" sz="quarter" idx="12"/>
          </p:nvPr>
        </p:nvSpPr>
        <p:spPr/>
        <p:txBody>
          <a:bodyPr/>
          <a:lstStyle/>
          <a:p>
            <a:fld id="{5250099A-FC06-4D8F-8CDF-D255FFE9E427}" type="slidenum">
              <a:rPr lang="en-GB" smtClean="0"/>
              <a:t>‹#›</a:t>
            </a:fld>
            <a:endParaRPr lang="en-GB"/>
          </a:p>
        </p:txBody>
      </p:sp>
    </p:spTree>
    <p:extLst>
      <p:ext uri="{BB962C8B-B14F-4D97-AF65-F5344CB8AC3E}">
        <p14:creationId xmlns:p14="http://schemas.microsoft.com/office/powerpoint/2010/main" val="350525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D0C66-E193-5E54-121C-D946499CD2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F53B3B4-6724-6235-049C-15019C46737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437CF-ADB0-B579-27F5-5741CE480255}"/>
              </a:ext>
            </a:extLst>
          </p:cNvPr>
          <p:cNvSpPr>
            <a:spLocks noGrp="1"/>
          </p:cNvSpPr>
          <p:nvPr>
            <p:ph type="dt" sz="half" idx="10"/>
          </p:nvPr>
        </p:nvSpPr>
        <p:spPr/>
        <p:txBody>
          <a:bodyPr/>
          <a:lstStyle/>
          <a:p>
            <a:fld id="{E56F53CA-33DB-4211-A925-EF9E208521FE}" type="datetimeFigureOut">
              <a:rPr lang="en-GB" smtClean="0"/>
              <a:t>05/08/2026</a:t>
            </a:fld>
            <a:endParaRPr lang="en-GB"/>
          </a:p>
        </p:txBody>
      </p:sp>
      <p:sp>
        <p:nvSpPr>
          <p:cNvPr id="5" name="Footer Placeholder 4">
            <a:extLst>
              <a:ext uri="{FF2B5EF4-FFF2-40B4-BE49-F238E27FC236}">
                <a16:creationId xmlns:a16="http://schemas.microsoft.com/office/drawing/2014/main" id="{91C7C8B9-87F4-DA73-F0B5-254DB0712BE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82C770A-4FBD-BFAC-EEBF-1E1DA9C9B4A6}"/>
              </a:ext>
            </a:extLst>
          </p:cNvPr>
          <p:cNvSpPr>
            <a:spLocks noGrp="1"/>
          </p:cNvSpPr>
          <p:nvPr>
            <p:ph type="sldNum" sz="quarter" idx="12"/>
          </p:nvPr>
        </p:nvSpPr>
        <p:spPr/>
        <p:txBody>
          <a:bodyPr/>
          <a:lstStyle/>
          <a:p>
            <a:fld id="{5250099A-FC06-4D8F-8CDF-D255FFE9E427}" type="slidenum">
              <a:rPr lang="en-GB" smtClean="0"/>
              <a:t>‹#›</a:t>
            </a:fld>
            <a:endParaRPr lang="en-GB"/>
          </a:p>
        </p:txBody>
      </p:sp>
    </p:spTree>
    <p:extLst>
      <p:ext uri="{BB962C8B-B14F-4D97-AF65-F5344CB8AC3E}">
        <p14:creationId xmlns:p14="http://schemas.microsoft.com/office/powerpoint/2010/main" val="3135875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D2BF5-2598-0BBD-1CDD-55A8FD3CFF1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4712C0E-709E-8C6E-8CF1-19F94FAF3EB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9617B90-FE1D-DC79-1187-D006640F99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2F46F33-C528-353C-FD94-DD8F1A93BC88}"/>
              </a:ext>
            </a:extLst>
          </p:cNvPr>
          <p:cNvSpPr>
            <a:spLocks noGrp="1"/>
          </p:cNvSpPr>
          <p:nvPr>
            <p:ph type="dt" sz="half" idx="10"/>
          </p:nvPr>
        </p:nvSpPr>
        <p:spPr/>
        <p:txBody>
          <a:bodyPr/>
          <a:lstStyle/>
          <a:p>
            <a:fld id="{E56F53CA-33DB-4211-A925-EF9E208521FE}" type="datetimeFigureOut">
              <a:rPr lang="en-GB" smtClean="0"/>
              <a:t>05/08/2026</a:t>
            </a:fld>
            <a:endParaRPr lang="en-GB"/>
          </a:p>
        </p:txBody>
      </p:sp>
      <p:sp>
        <p:nvSpPr>
          <p:cNvPr id="6" name="Footer Placeholder 5">
            <a:extLst>
              <a:ext uri="{FF2B5EF4-FFF2-40B4-BE49-F238E27FC236}">
                <a16:creationId xmlns:a16="http://schemas.microsoft.com/office/drawing/2014/main" id="{BE43C4D6-F39E-73EA-C4B9-2D64AC20241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7C350AC-F965-C24D-465D-38DC69C9EFD1}"/>
              </a:ext>
            </a:extLst>
          </p:cNvPr>
          <p:cNvSpPr>
            <a:spLocks noGrp="1"/>
          </p:cNvSpPr>
          <p:nvPr>
            <p:ph type="sldNum" sz="quarter" idx="12"/>
          </p:nvPr>
        </p:nvSpPr>
        <p:spPr/>
        <p:txBody>
          <a:bodyPr/>
          <a:lstStyle/>
          <a:p>
            <a:fld id="{5250099A-FC06-4D8F-8CDF-D255FFE9E427}" type="slidenum">
              <a:rPr lang="en-GB" smtClean="0"/>
              <a:t>‹#›</a:t>
            </a:fld>
            <a:endParaRPr lang="en-GB"/>
          </a:p>
        </p:txBody>
      </p:sp>
    </p:spTree>
    <p:extLst>
      <p:ext uri="{BB962C8B-B14F-4D97-AF65-F5344CB8AC3E}">
        <p14:creationId xmlns:p14="http://schemas.microsoft.com/office/powerpoint/2010/main" val="416825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E6153-B691-5544-6D5C-0A71F851056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B72985D-BAF1-5CC6-B39E-7784940538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D7C4AC-F9F4-5365-59EF-92DF7A07E8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63BB54C-853D-852E-A38D-C707C6A639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3197E4-0900-29F2-4CB9-E9E47BC380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CCA6C3D-FA81-CB54-3724-8D60C2808CF6}"/>
              </a:ext>
            </a:extLst>
          </p:cNvPr>
          <p:cNvSpPr>
            <a:spLocks noGrp="1"/>
          </p:cNvSpPr>
          <p:nvPr>
            <p:ph type="dt" sz="half" idx="10"/>
          </p:nvPr>
        </p:nvSpPr>
        <p:spPr/>
        <p:txBody>
          <a:bodyPr/>
          <a:lstStyle/>
          <a:p>
            <a:fld id="{E56F53CA-33DB-4211-A925-EF9E208521FE}" type="datetimeFigureOut">
              <a:rPr lang="en-GB" smtClean="0"/>
              <a:t>05/08/2026</a:t>
            </a:fld>
            <a:endParaRPr lang="en-GB"/>
          </a:p>
        </p:txBody>
      </p:sp>
      <p:sp>
        <p:nvSpPr>
          <p:cNvPr id="8" name="Footer Placeholder 7">
            <a:extLst>
              <a:ext uri="{FF2B5EF4-FFF2-40B4-BE49-F238E27FC236}">
                <a16:creationId xmlns:a16="http://schemas.microsoft.com/office/drawing/2014/main" id="{9C5E981B-8AB0-D194-51CB-4597D9A1675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2682579-8E53-ED13-D794-CEA85B1BAD2D}"/>
              </a:ext>
            </a:extLst>
          </p:cNvPr>
          <p:cNvSpPr>
            <a:spLocks noGrp="1"/>
          </p:cNvSpPr>
          <p:nvPr>
            <p:ph type="sldNum" sz="quarter" idx="12"/>
          </p:nvPr>
        </p:nvSpPr>
        <p:spPr/>
        <p:txBody>
          <a:bodyPr/>
          <a:lstStyle/>
          <a:p>
            <a:fld id="{5250099A-FC06-4D8F-8CDF-D255FFE9E427}" type="slidenum">
              <a:rPr lang="en-GB" smtClean="0"/>
              <a:t>‹#›</a:t>
            </a:fld>
            <a:endParaRPr lang="en-GB"/>
          </a:p>
        </p:txBody>
      </p:sp>
    </p:spTree>
    <p:extLst>
      <p:ext uri="{BB962C8B-B14F-4D97-AF65-F5344CB8AC3E}">
        <p14:creationId xmlns:p14="http://schemas.microsoft.com/office/powerpoint/2010/main" val="21102843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F517F-19E5-3FBF-AB41-0F017C673AE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0170DA9-A577-4241-F162-671BF0A79FF9}"/>
              </a:ext>
            </a:extLst>
          </p:cNvPr>
          <p:cNvSpPr>
            <a:spLocks noGrp="1"/>
          </p:cNvSpPr>
          <p:nvPr>
            <p:ph type="dt" sz="half" idx="10"/>
          </p:nvPr>
        </p:nvSpPr>
        <p:spPr/>
        <p:txBody>
          <a:bodyPr/>
          <a:lstStyle/>
          <a:p>
            <a:fld id="{E56F53CA-33DB-4211-A925-EF9E208521FE}" type="datetimeFigureOut">
              <a:rPr lang="en-GB" smtClean="0"/>
              <a:t>05/08/2026</a:t>
            </a:fld>
            <a:endParaRPr lang="en-GB"/>
          </a:p>
        </p:txBody>
      </p:sp>
      <p:sp>
        <p:nvSpPr>
          <p:cNvPr id="4" name="Footer Placeholder 3">
            <a:extLst>
              <a:ext uri="{FF2B5EF4-FFF2-40B4-BE49-F238E27FC236}">
                <a16:creationId xmlns:a16="http://schemas.microsoft.com/office/drawing/2014/main" id="{9E15C950-2D44-3E28-B02A-D9D177C39CC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EC2F46E-9513-03BC-36F3-91985238992F}"/>
              </a:ext>
            </a:extLst>
          </p:cNvPr>
          <p:cNvSpPr>
            <a:spLocks noGrp="1"/>
          </p:cNvSpPr>
          <p:nvPr>
            <p:ph type="sldNum" sz="quarter" idx="12"/>
          </p:nvPr>
        </p:nvSpPr>
        <p:spPr/>
        <p:txBody>
          <a:bodyPr/>
          <a:lstStyle/>
          <a:p>
            <a:fld id="{5250099A-FC06-4D8F-8CDF-D255FFE9E427}" type="slidenum">
              <a:rPr lang="en-GB" smtClean="0"/>
              <a:t>‹#›</a:t>
            </a:fld>
            <a:endParaRPr lang="en-GB"/>
          </a:p>
        </p:txBody>
      </p:sp>
    </p:spTree>
    <p:extLst>
      <p:ext uri="{BB962C8B-B14F-4D97-AF65-F5344CB8AC3E}">
        <p14:creationId xmlns:p14="http://schemas.microsoft.com/office/powerpoint/2010/main" val="1456515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DB062C-25BE-FBF4-2045-C1DAFF2BF5B7}"/>
              </a:ext>
            </a:extLst>
          </p:cNvPr>
          <p:cNvSpPr>
            <a:spLocks noGrp="1"/>
          </p:cNvSpPr>
          <p:nvPr>
            <p:ph type="dt" sz="half" idx="10"/>
          </p:nvPr>
        </p:nvSpPr>
        <p:spPr/>
        <p:txBody>
          <a:bodyPr/>
          <a:lstStyle/>
          <a:p>
            <a:fld id="{E56F53CA-33DB-4211-A925-EF9E208521FE}" type="datetimeFigureOut">
              <a:rPr lang="en-GB" smtClean="0"/>
              <a:t>05/08/2026</a:t>
            </a:fld>
            <a:endParaRPr lang="en-GB"/>
          </a:p>
        </p:txBody>
      </p:sp>
      <p:sp>
        <p:nvSpPr>
          <p:cNvPr id="3" name="Footer Placeholder 2">
            <a:extLst>
              <a:ext uri="{FF2B5EF4-FFF2-40B4-BE49-F238E27FC236}">
                <a16:creationId xmlns:a16="http://schemas.microsoft.com/office/drawing/2014/main" id="{D30F3638-2653-F616-7BE3-1273E94C1ED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3051154-D531-28C5-FD13-2C6BC92A2C26}"/>
              </a:ext>
            </a:extLst>
          </p:cNvPr>
          <p:cNvSpPr>
            <a:spLocks noGrp="1"/>
          </p:cNvSpPr>
          <p:nvPr>
            <p:ph type="sldNum" sz="quarter" idx="12"/>
          </p:nvPr>
        </p:nvSpPr>
        <p:spPr/>
        <p:txBody>
          <a:bodyPr/>
          <a:lstStyle/>
          <a:p>
            <a:fld id="{5250099A-FC06-4D8F-8CDF-D255FFE9E427}" type="slidenum">
              <a:rPr lang="en-GB" smtClean="0"/>
              <a:t>‹#›</a:t>
            </a:fld>
            <a:endParaRPr lang="en-GB"/>
          </a:p>
        </p:txBody>
      </p:sp>
    </p:spTree>
    <p:extLst>
      <p:ext uri="{BB962C8B-B14F-4D97-AF65-F5344CB8AC3E}">
        <p14:creationId xmlns:p14="http://schemas.microsoft.com/office/powerpoint/2010/main" val="21414679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A1238-439E-98D8-619B-1B5B52BA2D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616A90A-EC94-FF7D-49FB-DBA5E932BB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7A5547F-EAAC-D04E-AC1F-DCA2C1EAFB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4F983A-480D-2FD9-67CC-C240A79B071C}"/>
              </a:ext>
            </a:extLst>
          </p:cNvPr>
          <p:cNvSpPr>
            <a:spLocks noGrp="1"/>
          </p:cNvSpPr>
          <p:nvPr>
            <p:ph type="dt" sz="half" idx="10"/>
          </p:nvPr>
        </p:nvSpPr>
        <p:spPr/>
        <p:txBody>
          <a:bodyPr/>
          <a:lstStyle/>
          <a:p>
            <a:fld id="{E56F53CA-33DB-4211-A925-EF9E208521FE}" type="datetimeFigureOut">
              <a:rPr lang="en-GB" smtClean="0"/>
              <a:t>05/08/2026</a:t>
            </a:fld>
            <a:endParaRPr lang="en-GB"/>
          </a:p>
        </p:txBody>
      </p:sp>
      <p:sp>
        <p:nvSpPr>
          <p:cNvPr id="6" name="Footer Placeholder 5">
            <a:extLst>
              <a:ext uri="{FF2B5EF4-FFF2-40B4-BE49-F238E27FC236}">
                <a16:creationId xmlns:a16="http://schemas.microsoft.com/office/drawing/2014/main" id="{013F50E0-B50A-4DF7-00F6-E7BCB28982F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89F8A6F-3A13-6CAA-8F9C-7BB1A7D8619C}"/>
              </a:ext>
            </a:extLst>
          </p:cNvPr>
          <p:cNvSpPr>
            <a:spLocks noGrp="1"/>
          </p:cNvSpPr>
          <p:nvPr>
            <p:ph type="sldNum" sz="quarter" idx="12"/>
          </p:nvPr>
        </p:nvSpPr>
        <p:spPr/>
        <p:txBody>
          <a:bodyPr/>
          <a:lstStyle/>
          <a:p>
            <a:fld id="{5250099A-FC06-4D8F-8CDF-D255FFE9E427}" type="slidenum">
              <a:rPr lang="en-GB" smtClean="0"/>
              <a:t>‹#›</a:t>
            </a:fld>
            <a:endParaRPr lang="en-GB"/>
          </a:p>
        </p:txBody>
      </p:sp>
    </p:spTree>
    <p:extLst>
      <p:ext uri="{BB962C8B-B14F-4D97-AF65-F5344CB8AC3E}">
        <p14:creationId xmlns:p14="http://schemas.microsoft.com/office/powerpoint/2010/main" val="1282858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111C7-624C-EC7A-D1CC-5D6470A772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BB390D5-4017-EE2F-2DA3-B26BF3F2EF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D59CDAD-D6E3-5337-383A-9F52F4A518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B12098-8256-082A-E786-2AAD42650E2E}"/>
              </a:ext>
            </a:extLst>
          </p:cNvPr>
          <p:cNvSpPr>
            <a:spLocks noGrp="1"/>
          </p:cNvSpPr>
          <p:nvPr>
            <p:ph type="dt" sz="half" idx="10"/>
          </p:nvPr>
        </p:nvSpPr>
        <p:spPr/>
        <p:txBody>
          <a:bodyPr/>
          <a:lstStyle/>
          <a:p>
            <a:fld id="{E56F53CA-33DB-4211-A925-EF9E208521FE}" type="datetimeFigureOut">
              <a:rPr lang="en-GB" smtClean="0"/>
              <a:t>05/08/2026</a:t>
            </a:fld>
            <a:endParaRPr lang="en-GB"/>
          </a:p>
        </p:txBody>
      </p:sp>
      <p:sp>
        <p:nvSpPr>
          <p:cNvPr id="6" name="Footer Placeholder 5">
            <a:extLst>
              <a:ext uri="{FF2B5EF4-FFF2-40B4-BE49-F238E27FC236}">
                <a16:creationId xmlns:a16="http://schemas.microsoft.com/office/drawing/2014/main" id="{0586877E-CED3-56F6-4B38-0A83E85D4B0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B1304EB-E396-592F-87E9-380DE9B62BFA}"/>
              </a:ext>
            </a:extLst>
          </p:cNvPr>
          <p:cNvSpPr>
            <a:spLocks noGrp="1"/>
          </p:cNvSpPr>
          <p:nvPr>
            <p:ph type="sldNum" sz="quarter" idx="12"/>
          </p:nvPr>
        </p:nvSpPr>
        <p:spPr/>
        <p:txBody>
          <a:bodyPr/>
          <a:lstStyle/>
          <a:p>
            <a:fld id="{5250099A-FC06-4D8F-8CDF-D255FFE9E427}" type="slidenum">
              <a:rPr lang="en-GB" smtClean="0"/>
              <a:t>‹#›</a:t>
            </a:fld>
            <a:endParaRPr lang="en-GB"/>
          </a:p>
        </p:txBody>
      </p:sp>
    </p:spTree>
    <p:extLst>
      <p:ext uri="{BB962C8B-B14F-4D97-AF65-F5344CB8AC3E}">
        <p14:creationId xmlns:p14="http://schemas.microsoft.com/office/powerpoint/2010/main" val="1763717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4D746-41D8-202B-36C6-0AEF17E5D81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38139CD-BD8C-C5F2-11A4-7BF4659693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5464886-F6D9-4D90-D7DF-EC22F9A3FE4A}"/>
              </a:ext>
            </a:extLst>
          </p:cNvPr>
          <p:cNvSpPr>
            <a:spLocks noGrp="1"/>
          </p:cNvSpPr>
          <p:nvPr>
            <p:ph type="dt" sz="half" idx="10"/>
          </p:nvPr>
        </p:nvSpPr>
        <p:spPr/>
        <p:txBody>
          <a:bodyPr/>
          <a:lstStyle/>
          <a:p>
            <a:fld id="{E56F53CA-33DB-4211-A925-EF9E208521FE}" type="datetimeFigureOut">
              <a:rPr lang="en-GB" smtClean="0"/>
              <a:t>05/08/2026</a:t>
            </a:fld>
            <a:endParaRPr lang="en-GB"/>
          </a:p>
        </p:txBody>
      </p:sp>
      <p:sp>
        <p:nvSpPr>
          <p:cNvPr id="5" name="Footer Placeholder 4">
            <a:extLst>
              <a:ext uri="{FF2B5EF4-FFF2-40B4-BE49-F238E27FC236}">
                <a16:creationId xmlns:a16="http://schemas.microsoft.com/office/drawing/2014/main" id="{FF44F873-B6EE-A4BA-8158-563152B0044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5F34D93-3AFE-9EC9-1691-6EAD4F70F0FB}"/>
              </a:ext>
            </a:extLst>
          </p:cNvPr>
          <p:cNvSpPr>
            <a:spLocks noGrp="1"/>
          </p:cNvSpPr>
          <p:nvPr>
            <p:ph type="sldNum" sz="quarter" idx="12"/>
          </p:nvPr>
        </p:nvSpPr>
        <p:spPr/>
        <p:txBody>
          <a:bodyPr/>
          <a:lstStyle/>
          <a:p>
            <a:fld id="{5250099A-FC06-4D8F-8CDF-D255FFE9E427}" type="slidenum">
              <a:rPr lang="en-GB" smtClean="0"/>
              <a:t>‹#›</a:t>
            </a:fld>
            <a:endParaRPr lang="en-GB"/>
          </a:p>
        </p:txBody>
      </p:sp>
    </p:spTree>
    <p:extLst>
      <p:ext uri="{BB962C8B-B14F-4D97-AF65-F5344CB8AC3E}">
        <p14:creationId xmlns:p14="http://schemas.microsoft.com/office/powerpoint/2010/main" val="758614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105A8E-7120-57AB-F098-F410B426092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4489E7D-68C9-8D16-9D91-DA92766470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B050752-2357-2100-9DB6-C57BF167AFE7}"/>
              </a:ext>
            </a:extLst>
          </p:cNvPr>
          <p:cNvSpPr>
            <a:spLocks noGrp="1"/>
          </p:cNvSpPr>
          <p:nvPr>
            <p:ph type="dt" sz="half" idx="10"/>
          </p:nvPr>
        </p:nvSpPr>
        <p:spPr/>
        <p:txBody>
          <a:bodyPr/>
          <a:lstStyle/>
          <a:p>
            <a:fld id="{E56F53CA-33DB-4211-A925-EF9E208521FE}" type="datetimeFigureOut">
              <a:rPr lang="en-GB" smtClean="0"/>
              <a:t>05/08/2026</a:t>
            </a:fld>
            <a:endParaRPr lang="en-GB"/>
          </a:p>
        </p:txBody>
      </p:sp>
      <p:sp>
        <p:nvSpPr>
          <p:cNvPr id="5" name="Footer Placeholder 4">
            <a:extLst>
              <a:ext uri="{FF2B5EF4-FFF2-40B4-BE49-F238E27FC236}">
                <a16:creationId xmlns:a16="http://schemas.microsoft.com/office/drawing/2014/main" id="{F8E5C95D-D32A-0AF6-8366-D79912D3D1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7007C0-504C-777E-4B2F-60A1DD28B785}"/>
              </a:ext>
            </a:extLst>
          </p:cNvPr>
          <p:cNvSpPr>
            <a:spLocks noGrp="1"/>
          </p:cNvSpPr>
          <p:nvPr>
            <p:ph type="sldNum" sz="quarter" idx="12"/>
          </p:nvPr>
        </p:nvSpPr>
        <p:spPr/>
        <p:txBody>
          <a:bodyPr/>
          <a:lstStyle/>
          <a:p>
            <a:fld id="{5250099A-FC06-4D8F-8CDF-D255FFE9E427}" type="slidenum">
              <a:rPr lang="en-GB" smtClean="0"/>
              <a:t>‹#›</a:t>
            </a:fld>
            <a:endParaRPr lang="en-GB"/>
          </a:p>
        </p:txBody>
      </p:sp>
    </p:spTree>
    <p:extLst>
      <p:ext uri="{BB962C8B-B14F-4D97-AF65-F5344CB8AC3E}">
        <p14:creationId xmlns:p14="http://schemas.microsoft.com/office/powerpoint/2010/main" val="2147219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FFB3F8-3DD2-C007-2FF7-6C811B4F04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5C0AC1A-AE72-8B02-B2A4-48142F0375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7AA8242-1E05-B2A3-2EE0-B46B9E87AF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6F53CA-33DB-4211-A925-EF9E208521FE}" type="datetimeFigureOut">
              <a:rPr lang="en-GB" smtClean="0"/>
              <a:t>05/08/2026</a:t>
            </a:fld>
            <a:endParaRPr lang="en-GB"/>
          </a:p>
        </p:txBody>
      </p:sp>
      <p:sp>
        <p:nvSpPr>
          <p:cNvPr id="5" name="Footer Placeholder 4">
            <a:extLst>
              <a:ext uri="{FF2B5EF4-FFF2-40B4-BE49-F238E27FC236}">
                <a16:creationId xmlns:a16="http://schemas.microsoft.com/office/drawing/2014/main" id="{EFEDB5C7-F0EA-B5AF-017A-81122A22F1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C41133D8-2AA3-2E61-B5D9-0B732DD8DE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250099A-FC06-4D8F-8CDF-D255FFE9E427}" type="slidenum">
              <a:rPr lang="en-GB" smtClean="0"/>
              <a:t>‹#›</a:t>
            </a:fld>
            <a:endParaRPr lang="en-GB"/>
          </a:p>
        </p:txBody>
      </p:sp>
    </p:spTree>
    <p:extLst>
      <p:ext uri="{BB962C8B-B14F-4D97-AF65-F5344CB8AC3E}">
        <p14:creationId xmlns:p14="http://schemas.microsoft.com/office/powerpoint/2010/main" val="2087218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ir.indiamart.com/impcat/computer-peripherals.html" TargetMode="External"/><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freepngimg.com/png/81937-blue-world-globe-map-free-hq-image" TargetMode="External"/><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BD797CD-762C-F6B9-FB44-1F98B37BAF2C}"/>
              </a:ext>
            </a:extLst>
          </p:cNvPr>
          <p:cNvSpPr txBox="1"/>
          <p:nvPr/>
        </p:nvSpPr>
        <p:spPr>
          <a:xfrm>
            <a:off x="1113810" y="2960716"/>
            <a:ext cx="4036334" cy="2387600"/>
          </a:xfrm>
          <a:prstGeom prst="rect">
            <a:avLst/>
          </a:prstGeom>
        </p:spPr>
        <p:txBody>
          <a:bodyPr vert="horz" lIns="91440" tIns="45720" rIns="91440" bIns="45720" rtlCol="0" anchor="t">
            <a:normAutofit/>
          </a:bodyPr>
          <a:lstStyle/>
          <a:p>
            <a:pPr>
              <a:lnSpc>
                <a:spcPct val="90000"/>
              </a:lnSpc>
              <a:spcBef>
                <a:spcPct val="0"/>
              </a:spcBef>
              <a:spcAft>
                <a:spcPts val="800"/>
              </a:spcAft>
            </a:pPr>
            <a:r>
              <a:rPr lang="en-US" sz="3800" b="1" kern="1200">
                <a:solidFill>
                  <a:schemeClr val="tx1"/>
                </a:solidFill>
                <a:effectLst/>
                <a:latin typeface="+mj-lt"/>
                <a:ea typeface="+mj-ea"/>
                <a:cs typeface="+mj-cs"/>
              </a:rPr>
              <a:t>Consumer And Goods</a:t>
            </a:r>
          </a:p>
          <a:p>
            <a:pPr>
              <a:lnSpc>
                <a:spcPct val="90000"/>
              </a:lnSpc>
              <a:spcBef>
                <a:spcPct val="0"/>
              </a:spcBef>
              <a:spcAft>
                <a:spcPts val="800"/>
              </a:spcAft>
            </a:pPr>
            <a:r>
              <a:rPr lang="en-US" sz="3800" b="1" kern="1200">
                <a:solidFill>
                  <a:schemeClr val="tx1"/>
                </a:solidFill>
                <a:latin typeface="+mj-lt"/>
                <a:ea typeface="+mj-ea"/>
                <a:cs typeface="+mj-cs"/>
              </a:rPr>
              <a:t>                                                    Adhoc_Insights</a:t>
            </a:r>
            <a:endParaRPr lang="en-US" sz="3800" b="1" kern="1200">
              <a:solidFill>
                <a:schemeClr val="tx1"/>
              </a:solidFill>
              <a:effectLst/>
              <a:latin typeface="+mj-lt"/>
              <a:ea typeface="+mj-ea"/>
              <a:cs typeface="+mj-cs"/>
            </a:endParaRPr>
          </a:p>
          <a:p>
            <a:pPr>
              <a:lnSpc>
                <a:spcPct val="90000"/>
              </a:lnSpc>
              <a:spcBef>
                <a:spcPct val="0"/>
              </a:spcBef>
              <a:spcAft>
                <a:spcPts val="800"/>
              </a:spcAft>
            </a:pPr>
            <a:endParaRPr lang="en-US" sz="3800" b="1" kern="1200">
              <a:solidFill>
                <a:schemeClr val="tx1"/>
              </a:solidFill>
              <a:effectLst/>
              <a:latin typeface="+mj-lt"/>
              <a:ea typeface="+mj-ea"/>
              <a:cs typeface="+mj-cs"/>
            </a:endParaRPr>
          </a:p>
        </p:txBody>
      </p:sp>
      <p:grpSp>
        <p:nvGrpSpPr>
          <p:cNvPr id="33" name="Group 32">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34" name="Rectangle 33">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Rectangle 37">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6E7DD515-B1C0-4ED7-E99B-88761A0DEC2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922492" y="1835703"/>
            <a:ext cx="5536001" cy="3127840"/>
          </a:xfrm>
          <a:prstGeom prst="rect">
            <a:avLst/>
          </a:prstGeom>
        </p:spPr>
      </p:pic>
      <p:pic>
        <p:nvPicPr>
          <p:cNvPr id="5" name="Picture 4" descr="The image depicts a stylized, triangular logo with a red and white color scheme, featuring a central circular element and a distinctive design.&#10;&#10;AI-generated content may be incorrect.">
            <a:extLst>
              <a:ext uri="{FF2B5EF4-FFF2-40B4-BE49-F238E27FC236}">
                <a16:creationId xmlns:a16="http://schemas.microsoft.com/office/drawing/2014/main" id="{F26BE8A8-BE81-F263-4C00-B8F2089CBA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3010" y="171097"/>
            <a:ext cx="1100499" cy="1053738"/>
          </a:xfrm>
          <a:prstGeom prst="rect">
            <a:avLst/>
          </a:prstGeom>
        </p:spPr>
      </p:pic>
    </p:spTree>
    <p:extLst>
      <p:ext uri="{BB962C8B-B14F-4D97-AF65-F5344CB8AC3E}">
        <p14:creationId xmlns:p14="http://schemas.microsoft.com/office/powerpoint/2010/main" val="9688062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AAFD254-3934-0407-47B8-ED506D503EA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4273" r="2928" b="-2"/>
          <a:stretch>
            <a:fillRect/>
          </a:stretch>
        </p:blipFill>
        <p:spPr>
          <a:xfrm>
            <a:off x="279143" y="299508"/>
            <a:ext cx="5221625" cy="3010397"/>
          </a:xfrm>
          <a:prstGeom prst="rect">
            <a:avLst/>
          </a:prstGeom>
        </p:spPr>
      </p:pic>
      <p:pic>
        <p:nvPicPr>
          <p:cNvPr id="5" name="Picture 4" descr="Atliq Exclusive.&#10;&#10;AI-generated content may be incorrect.">
            <a:extLst>
              <a:ext uri="{FF2B5EF4-FFF2-40B4-BE49-F238E27FC236}">
                <a16:creationId xmlns:a16="http://schemas.microsoft.com/office/drawing/2014/main" id="{D4A68CFE-60F3-E366-8991-273A254C528A}"/>
              </a:ext>
            </a:extLst>
          </p:cNvPr>
          <p:cNvPicPr>
            <a:picLocks noChangeAspect="1"/>
          </p:cNvPicPr>
          <p:nvPr/>
        </p:nvPicPr>
        <p:blipFill>
          <a:blip r:embed="rId4">
            <a:extLst>
              <a:ext uri="{28A0092B-C50C-407E-A947-70E740481C1C}">
                <a14:useLocalDpi xmlns:a14="http://schemas.microsoft.com/office/drawing/2010/main" val="0"/>
              </a:ext>
            </a:extLst>
          </a:blip>
          <a:srcRect t="12716" r="2" b="9600"/>
          <a:stretch>
            <a:fillRect/>
          </a:stretch>
        </p:blipFill>
        <p:spPr>
          <a:xfrm>
            <a:off x="279143" y="3548095"/>
            <a:ext cx="5221625" cy="3010397"/>
          </a:xfrm>
          <a:prstGeom prst="rect">
            <a:avLst/>
          </a:prstGeom>
        </p:spPr>
      </p:pic>
      <p:sp>
        <p:nvSpPr>
          <p:cNvPr id="3" name="TextBox 2">
            <a:extLst>
              <a:ext uri="{FF2B5EF4-FFF2-40B4-BE49-F238E27FC236}">
                <a16:creationId xmlns:a16="http://schemas.microsoft.com/office/drawing/2014/main" id="{D8B5F093-6B1E-0AF0-4C7E-70158F90D1CC}"/>
              </a:ext>
            </a:extLst>
          </p:cNvPr>
          <p:cNvSpPr txBox="1"/>
          <p:nvPr/>
        </p:nvSpPr>
        <p:spPr>
          <a:xfrm>
            <a:off x="6392583" y="2645922"/>
            <a:ext cx="4434721" cy="3710427"/>
          </a:xfrm>
          <a:prstGeom prst="rect">
            <a:avLst/>
          </a:prstGeom>
        </p:spPr>
        <p:txBody>
          <a:bodyPr vert="horz" lIns="91440" tIns="45720" rIns="91440" bIns="45720" rtlCol="0" anchor="t">
            <a:normAutofit/>
          </a:bodyPr>
          <a:lstStyle/>
          <a:p>
            <a:pPr indent="-228600">
              <a:lnSpc>
                <a:spcPct val="90000"/>
              </a:lnSpc>
              <a:spcAft>
                <a:spcPts val="800"/>
              </a:spcAft>
              <a:buFont typeface="Arial" panose="020B0604020202020204" pitchFamily="34" charset="0"/>
              <a:buChar char="•"/>
            </a:pPr>
            <a:r>
              <a:rPr lang="en-US" sz="2000">
                <a:solidFill>
                  <a:schemeClr val="tx1">
                    <a:alpha val="80000"/>
                  </a:schemeClr>
                </a:solidFill>
                <a:effectLst/>
              </a:rPr>
              <a:t> Requests: 1. Provide the list of markets in which customer "Atliq Exclusive" operates its business in the APAC region.</a:t>
            </a:r>
          </a:p>
        </p:txBody>
      </p:sp>
      <p:cxnSp>
        <p:nvCxnSpPr>
          <p:cNvPr id="23" name="Straight Connector 22">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3893"/>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8996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he image displays a table with data showing the percentage change in unique products for the years 2020 and 2021, with a 36.33% increase.&#10;&#10;AI-generated content may be incorrect.">
            <a:extLst>
              <a:ext uri="{FF2B5EF4-FFF2-40B4-BE49-F238E27FC236}">
                <a16:creationId xmlns:a16="http://schemas.microsoft.com/office/drawing/2014/main" id="{408D1408-8077-C0D5-D6FA-245A50F7C7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9304" y="1751628"/>
            <a:ext cx="7745969" cy="910149"/>
          </a:xfrm>
          <a:prstGeom prst="rect">
            <a:avLst/>
          </a:prstGeom>
        </p:spPr>
      </p:pic>
      <p:sp>
        <p:nvSpPr>
          <p:cNvPr id="3" name="TextBox 2">
            <a:extLst>
              <a:ext uri="{FF2B5EF4-FFF2-40B4-BE49-F238E27FC236}">
                <a16:creationId xmlns:a16="http://schemas.microsoft.com/office/drawing/2014/main" id="{45D33700-5650-AD60-66E6-56C3515CFCBE}"/>
              </a:ext>
            </a:extLst>
          </p:cNvPr>
          <p:cNvSpPr txBox="1"/>
          <p:nvPr/>
        </p:nvSpPr>
        <p:spPr>
          <a:xfrm>
            <a:off x="1289304" y="4612943"/>
            <a:ext cx="7745969" cy="140822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000"/>
              <a:t>2. What is the percentage of unique product increase in 2021 vs. 2020? The final output contains these fields, unique_products_2020 unique_products_2021 percentage_chg</a:t>
            </a:r>
          </a:p>
        </p:txBody>
      </p:sp>
    </p:spTree>
    <p:extLst>
      <p:ext uri="{BB962C8B-B14F-4D97-AF65-F5344CB8AC3E}">
        <p14:creationId xmlns:p14="http://schemas.microsoft.com/office/powerpoint/2010/main" val="1965310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7E88BBC-EBA8-7BFB-8C13-57BC9CA073F6}"/>
              </a:ext>
            </a:extLst>
          </p:cNvPr>
          <p:cNvSpPr txBox="1"/>
          <p:nvPr/>
        </p:nvSpPr>
        <p:spPr>
          <a:xfrm>
            <a:off x="1144923" y="2405894"/>
            <a:ext cx="5315189" cy="3535083"/>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000"/>
              <a:t>3. Provide a report with all the unique product counts for each segment and sort them in descending order of product counts. The final output contains 2 fields, segment product_count</a:t>
            </a:r>
          </a:p>
        </p:txBody>
      </p:sp>
      <p:sp>
        <p:nvSpPr>
          <p:cNvPr id="12" name="Rectangle 11">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The table displays various product categories and their corresponding counts: 129 for notebooks, 116 for accessories, 84 for peripherals, 32 for desktops, 19 for storage, and 9 for networking.&#10;&#10;AI-generated content may be incorrect.">
            <a:extLst>
              <a:ext uri="{FF2B5EF4-FFF2-40B4-BE49-F238E27FC236}">
                <a16:creationId xmlns:a16="http://schemas.microsoft.com/office/drawing/2014/main" id="{FBB99664-31DB-B235-BA71-89AF4BA248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5967" y="2142522"/>
            <a:ext cx="4170530" cy="2604848"/>
          </a:xfrm>
          <a:prstGeom prst="rect">
            <a:avLst/>
          </a:prstGeom>
        </p:spPr>
      </p:pic>
    </p:spTree>
    <p:extLst>
      <p:ext uri="{BB962C8B-B14F-4D97-AF65-F5344CB8AC3E}">
        <p14:creationId xmlns:p14="http://schemas.microsoft.com/office/powerpoint/2010/main" val="275057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he table shows the difference in unit sales between unique products in 2020 and 2021, categorized into various product types such as accessories, notebooks, peripherals, desktops, and storage, with the differences listed in descending order.&#10;&#10;AI-generated content may be incorrect.">
            <a:extLst>
              <a:ext uri="{FF2B5EF4-FFF2-40B4-BE49-F238E27FC236}">
                <a16:creationId xmlns:a16="http://schemas.microsoft.com/office/drawing/2014/main" id="{B25BBBF7-C942-4D35-F704-35196469A6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029" y="457200"/>
            <a:ext cx="10882903" cy="3455325"/>
          </a:xfrm>
          <a:prstGeom prst="rect">
            <a:avLst/>
          </a:prstGeom>
        </p:spPr>
      </p:pic>
      <p:sp>
        <p:nvSpPr>
          <p:cNvPr id="3" name="TextBox 2">
            <a:extLst>
              <a:ext uri="{FF2B5EF4-FFF2-40B4-BE49-F238E27FC236}">
                <a16:creationId xmlns:a16="http://schemas.microsoft.com/office/drawing/2014/main" id="{C99C3FD7-3002-0B20-B4FF-116A1D51E9AB}"/>
              </a:ext>
            </a:extLst>
          </p:cNvPr>
          <p:cNvSpPr txBox="1"/>
          <p:nvPr/>
        </p:nvSpPr>
        <p:spPr>
          <a:xfrm>
            <a:off x="5246415" y="4230094"/>
            <a:ext cx="6235268" cy="1800164"/>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000"/>
              <a:t>4. Follow-up: Which segment had the most increase in unique products in 2021 vs 2020? The final output contains these fields, segment product_count_2020 product_count_2021 difference.</a:t>
            </a:r>
          </a:p>
        </p:txBody>
      </p:sp>
      <p:sp>
        <p:nvSpPr>
          <p:cNvPr id="45" name="Rectangle 44">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94189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7982EE1-5ECB-73B7-CA8B-A76EEA9980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9304" y="1567662"/>
            <a:ext cx="7745969" cy="1278082"/>
          </a:xfrm>
          <a:prstGeom prst="rect">
            <a:avLst/>
          </a:prstGeom>
        </p:spPr>
      </p:pic>
      <p:sp>
        <p:nvSpPr>
          <p:cNvPr id="3" name="TextBox 2">
            <a:extLst>
              <a:ext uri="{FF2B5EF4-FFF2-40B4-BE49-F238E27FC236}">
                <a16:creationId xmlns:a16="http://schemas.microsoft.com/office/drawing/2014/main" id="{31B2B246-4326-F728-3E97-386EF62FAD4F}"/>
              </a:ext>
            </a:extLst>
          </p:cNvPr>
          <p:cNvSpPr txBox="1"/>
          <p:nvPr/>
        </p:nvSpPr>
        <p:spPr>
          <a:xfrm>
            <a:off x="1289304" y="4612943"/>
            <a:ext cx="7745969" cy="140822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000"/>
              <a:t>5. Get the products that have the highest and lowest manufacturing costs. The final output should contain these fields, product_code product manufacturing_cost </a:t>
            </a:r>
          </a:p>
        </p:txBody>
      </p:sp>
    </p:spTree>
    <p:extLst>
      <p:ext uri="{BB962C8B-B14F-4D97-AF65-F5344CB8AC3E}">
        <p14:creationId xmlns:p14="http://schemas.microsoft.com/office/powerpoint/2010/main" val="3389431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he image displays a table listing various customer codes, their average discount percentages, and associated online platforms.&#10;&#10;AI-generated content may be incorrect.">
            <a:extLst>
              <a:ext uri="{FF2B5EF4-FFF2-40B4-BE49-F238E27FC236}">
                <a16:creationId xmlns:a16="http://schemas.microsoft.com/office/drawing/2014/main" id="{92057421-D99C-4C2D-7B69-DFD8116653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029" y="457200"/>
            <a:ext cx="10882903" cy="3455325"/>
          </a:xfrm>
          <a:prstGeom prst="rect">
            <a:avLst/>
          </a:prstGeom>
        </p:spPr>
      </p:pic>
      <p:sp>
        <p:nvSpPr>
          <p:cNvPr id="3" name="TextBox 2">
            <a:extLst>
              <a:ext uri="{FF2B5EF4-FFF2-40B4-BE49-F238E27FC236}">
                <a16:creationId xmlns:a16="http://schemas.microsoft.com/office/drawing/2014/main" id="{5F9D7227-3519-4FA4-659B-BB130ADFBE5C}"/>
              </a:ext>
            </a:extLst>
          </p:cNvPr>
          <p:cNvSpPr txBox="1"/>
          <p:nvPr/>
        </p:nvSpPr>
        <p:spPr>
          <a:xfrm>
            <a:off x="5246415" y="4230094"/>
            <a:ext cx="6235268" cy="1800164"/>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000"/>
              <a:t>6. Generate a report which contains the top 5 customers who received an average high pre_invoice_discount_pct for the fiscal year 2021 and in the Indian market. The final output contains these fields, customer_code customer average_discount_percentage</a:t>
            </a:r>
          </a:p>
        </p:txBody>
      </p:sp>
      <p:sp>
        <p:nvSpPr>
          <p:cNvPr id="30" name="Rectangle 29">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0591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The table displays monthly gross sales amounts for the year 2020 and the first nine months of 2021.&#10;&#10;AI-generated content may be incorrect.">
            <a:extLst>
              <a:ext uri="{FF2B5EF4-FFF2-40B4-BE49-F238E27FC236}">
                <a16:creationId xmlns:a16="http://schemas.microsoft.com/office/drawing/2014/main" id="{D891587C-03B0-59D0-7E2D-D2DE82E320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3182" y="629708"/>
            <a:ext cx="4777381" cy="542884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TextBox 2">
            <a:extLst>
              <a:ext uri="{FF2B5EF4-FFF2-40B4-BE49-F238E27FC236}">
                <a16:creationId xmlns:a16="http://schemas.microsoft.com/office/drawing/2014/main" id="{2E4E3644-D146-866A-76D9-726028BED539}"/>
              </a:ext>
            </a:extLst>
          </p:cNvPr>
          <p:cNvSpPr txBox="1"/>
          <p:nvPr/>
        </p:nvSpPr>
        <p:spPr>
          <a:xfrm>
            <a:off x="5894962" y="1984443"/>
            <a:ext cx="5458838" cy="419252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a:t>7. Get the complete report of the Gross sales amount for the customer “Atliq Exclusive” for each month . This analysis helps to get an idea of low and high-performing months and take strategic decisions. The final report contains these columns: Month Year Gross sales Amount</a:t>
            </a:r>
          </a:p>
        </p:txBody>
      </p:sp>
    </p:spTree>
    <p:extLst>
      <p:ext uri="{BB962C8B-B14F-4D97-AF65-F5344CB8AC3E}">
        <p14:creationId xmlns:p14="http://schemas.microsoft.com/office/powerpoint/2010/main" val="2848463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he image displays a table with quarterly sales data, showing the total number of units sold for each quarter: Q1 with 7,005,619 units, Q2 with 6,649,642 units, Q3 with 2,075,087 units, and Q4 with 5,042,541 units.&#10;&#10;AI-generated content may be incorrect.">
            <a:extLst>
              <a:ext uri="{FF2B5EF4-FFF2-40B4-BE49-F238E27FC236}">
                <a16:creationId xmlns:a16="http://schemas.microsoft.com/office/drawing/2014/main" id="{1534012F-FA98-E2BC-FAAB-EF4FDA93C5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8130" y="2203622"/>
            <a:ext cx="3876165" cy="2019060"/>
          </a:xfrm>
          <a:prstGeom prst="rect">
            <a:avLst/>
          </a:prstGeom>
        </p:spPr>
      </p:pic>
      <p:sp>
        <p:nvSpPr>
          <p:cNvPr id="3" name="TextBox 2">
            <a:extLst>
              <a:ext uri="{FF2B5EF4-FFF2-40B4-BE49-F238E27FC236}">
                <a16:creationId xmlns:a16="http://schemas.microsoft.com/office/drawing/2014/main" id="{A69EB2B2-7726-A9BB-3EE9-AFE94B36D9AD}"/>
              </a:ext>
            </a:extLst>
          </p:cNvPr>
          <p:cNvSpPr txBox="1"/>
          <p:nvPr/>
        </p:nvSpPr>
        <p:spPr>
          <a:xfrm>
            <a:off x="5596502" y="2405894"/>
            <a:ext cx="5754896" cy="3197464"/>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000"/>
              <a:t>8. In which quarter of 2020, got the maximum total_sold_quantity? The final output contains these fields sorted by the total_sold_quantity, Quarter total_sold_quantity</a:t>
            </a:r>
          </a:p>
        </p:txBody>
      </p:sp>
      <p:sp>
        <p:nvSpPr>
          <p:cNvPr id="12" name="Rectangle 11">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2118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ADFC88A0-F79D-D355-DF31-0F5C190012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9304" y="1173707"/>
            <a:ext cx="7249085" cy="2065992"/>
          </a:xfrm>
          <a:prstGeom prst="rect">
            <a:avLst/>
          </a:prstGeom>
        </p:spPr>
      </p:pic>
      <p:sp>
        <p:nvSpPr>
          <p:cNvPr id="3" name="TextBox 2">
            <a:extLst>
              <a:ext uri="{FF2B5EF4-FFF2-40B4-BE49-F238E27FC236}">
                <a16:creationId xmlns:a16="http://schemas.microsoft.com/office/drawing/2014/main" id="{EAAFABAB-3BA3-B414-8502-21F7CBD1FA55}"/>
              </a:ext>
            </a:extLst>
          </p:cNvPr>
          <p:cNvSpPr txBox="1"/>
          <p:nvPr/>
        </p:nvSpPr>
        <p:spPr>
          <a:xfrm>
            <a:off x="1289304" y="4612943"/>
            <a:ext cx="7745969" cy="140822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000"/>
              <a:t>9. Which channel helped to bring more gross sales in the fiscal year 2021 and the percentage of contribution? The final output contains these fields, channel gross_sales_mln percentage </a:t>
            </a:r>
          </a:p>
        </p:txBody>
      </p:sp>
    </p:spTree>
    <p:extLst>
      <p:ext uri="{BB962C8B-B14F-4D97-AF65-F5344CB8AC3E}">
        <p14:creationId xmlns:p14="http://schemas.microsoft.com/office/powerpoint/2010/main" val="406362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1A4FD0B-39A9-9EA3-230E-15F70A7EEA49}"/>
              </a:ext>
            </a:extLst>
          </p:cNvPr>
          <p:cNvSpPr txBox="1"/>
          <p:nvPr/>
        </p:nvSpPr>
        <p:spPr>
          <a:xfrm>
            <a:off x="645066" y="2031101"/>
            <a:ext cx="4282984" cy="3511943"/>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a:t>10. Get the Top 3 products in each division that have a high total_sold_quantity in the fiscal_year 2021? The final output contains these fields, division, product_code,  product total_sold_quantity ,rank_order</a:t>
            </a:r>
          </a:p>
        </p:txBody>
      </p:sp>
      <p:sp>
        <p:nvSpPr>
          <p:cNvPr id="14" name="Rectangle 1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E057DB3-D808-2155-81E1-C2BD71EB39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7738" y="2208066"/>
            <a:ext cx="5628018" cy="2208998"/>
          </a:xfrm>
          <a:prstGeom prst="rect">
            <a:avLst/>
          </a:prstGeom>
        </p:spPr>
      </p:pic>
    </p:spTree>
    <p:extLst>
      <p:ext uri="{BB962C8B-B14F-4D97-AF65-F5344CB8AC3E}">
        <p14:creationId xmlns:p14="http://schemas.microsoft.com/office/powerpoint/2010/main" val="42905262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707</TotalTime>
  <Words>393</Words>
  <Application>Microsoft Office PowerPoint</Application>
  <PresentationFormat>Widescreen</PresentationFormat>
  <Paragraphs>12</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Mugilini Subash</dc:creator>
  <cp:lastModifiedBy>Mugilini Subash</cp:lastModifiedBy>
  <cp:revision>2</cp:revision>
  <dcterms:created xsi:type="dcterms:W3CDTF">2026-08-03T05:49:54Z</dcterms:created>
  <dcterms:modified xsi:type="dcterms:W3CDTF">2026-08-05T16:16:27Z</dcterms:modified>
</cp:coreProperties>
</file>